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RL Meta-Allocator</a:t>
            </a:r>
          </a:p>
          <a:p>
            <a:pPr algn="ctr">
              <a:defRPr sz="2400">
                <a:solidFill>
                  <a:srgbClr val="C8C8C8"/>
                </a:solidFill>
              </a:defRPr>
            </a:pPr>
            <a:r>
              <a:t>Asignación Dinámica de Capital mediante</a:t>
            </a:r>
            <a:br/>
            <a:r>
              <a:t>Aprendizaje por Refuerzo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Contexto y Motivación del Problema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Análisis del Benchmark y Algoritmos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Baselines Clásicos (MPT)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Entorno RL Custom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Agentes de Reinforcement Learning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Resultados y Evaluación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Conclusiones y Trabajo Futuro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66CC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23232"/>
                </a:solidFill>
              </a:defRPr>
            </a:pPr>
            <a:r>
              <a:t>Contexto y Motivación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Recibimos transacciones de N algoritmos caja negra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Solo vemos entradas/salidas, no la lógica interna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No sabemos qué hacen internamente los algoritmos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Tenemos un benchmark que invierte en estos algoritmos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Conocemos sus trades y performance histórica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Objetivo: diseñar un meta-allocator que supere al benchmark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Asignar capital dinámicamente entre algoritmos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Restricción Crítica: Comparar Peras con Peras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El benchmark es la REFERENCIA, no el objetivo a replicar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Debemos analizar sus características operativas: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Frecuencia de rebalanceo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Duración de posiciones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Concentración (HHI)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Perfil de riesgo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Restricciones y fricciones EQUIVALENTES para comparación justa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El meta-allocator puede diferir en estrategia, no en condiciones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Enfoque: RL como Meta-Allocator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Reinforcement Learning para decisiones secuenciales de asignación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No predice precios, asigna capital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El agente observa el estado del mercado y algoritmos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Decide los pesos óptimos del portfolio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Sujeto a restricciones realistas (turnover, concentración)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Aprende a maximizar retornos ajustados por riesgo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Arquitectura del Sistema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863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                      DATOS DE ENTRADA                 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Algoritmos (OHLC)  │  Benchmark (trades)  │  Benchmarks macro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└──────────────────────────────┬──────────────────────────────────┘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                       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                               ▼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                  PHASE 1-2: ANÁLISIS                  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Feature Engineering  │  Clustering  │  Regime Inference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└──────────────────────────────┬──────────────────────────────────┘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                       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                ┌──────────────┴──────────────┐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                ▼                             ▼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┌───────────────────────────┐   ┌───────────────────────────────┐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 PHASE 3: BASELINES      │   │   PHASE 4-5: RL AGENTS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EW, RP, MinVar, MaxSharpe│   │  PPO, SAC, TD3        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Momentum, Vol Targeting  │   │  Entorno Custom (no Gym)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└───────────────┬───────────┘   └───────────────┬───────────────┘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                │                       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                └───────────────┬───────────────┘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                                ▼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┌─────────────────────────────────────────────────────────────────┐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                  PHASE 6: EVALUACIÓN                  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Walk-Forward  │  Métricas comparables  │  Análisis de riesgo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└─────────────────────────────────────────────────────────────────┘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66CC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23232"/>
                </a:solidFill>
              </a:defRPr>
            </a:pPr>
            <a:r>
              <a:t>Análisis del Benchmark y Algoritmos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1: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Carga y preprocesamiento de datos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Detección automática de formatos (fechas, OHLC)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Reconstrucción de equity curves y retornos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Feature engineering (cumulative + rolling + cross-sectional)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Ventanas: 5, 21, 63, 126, 252 días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Inferencia de activo subyacente (two-stage)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Fast Pearson screen → Deep 6-signal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Phase 2: Reverse Engineering del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Profiling de todos los algoritmos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Análisis de la política implícita del benchmark: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Sizing policy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Temporal patterns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Risk management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Regime behavior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Inferencia de régimen latente (HMM)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Capa A: Régimen de mercado global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Capa B: Comportamiento del benchmark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Clustering temporal de algoritmos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Características Extraídas del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Métricas Operativas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Frecuencia de rebalanceo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Turnover anualizado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Holding period promedio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Concentración (HHI)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Número de posiciones activas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Métricas de Riesgo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Volatilidad anualizada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Max Drawdown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VaR 95%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CVaR 95%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Sharpe Ratio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Clustering de Algoritmos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Temporal clustering: evolución semanal de clusters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Tres horizontes: cumulative, weekly, monthly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Behavioral clustering: familias por comportamiento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Features: volatilidad, drawdown, autocorrelación, etc.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Correlation clustering: grupos por correlación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Métodos: KMeans, GMM, Hierarchical, DBSCAN, HDBSCAN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66CC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23232"/>
                </a:solidFill>
              </a:defRPr>
            </a:pPr>
            <a:r>
              <a:t>Baselines Clásicos (MPT)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 Estrategias Baseline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Estrategia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Objetivo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Equal Weight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Pesos iguales para todos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Baseline naive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Risk Parity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Pesos inversamente proporcionales a volatilidad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Igualar contribución al riesgo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Min Variance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Optimización para mínima varianza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Minimizar riesgo total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Max Sharpe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Optimización para máximo Sharpe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Mejor risk-adjusted return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Momentum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Sobreponderar winners recientes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Capturar tendencias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Vol Targeting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Ajustar exposure por volatilidad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Control de riesgo dinámico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Restricciones Aplicadas (Calibradas al Benchmark)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max_weight_per_algo: 0.40 (40% máximo por algoritmo)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min_weight_per_algo: 0.00 (permite no invertir)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max_turnover_per_rebalance: 0.30 (30% máximo)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max_total_exposure: 1.0 (fully invested)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Rebalance frequency: semanal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Fast Backtester Optimizado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Implementación con Numba JIT compilation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@numba.njit para cálculos críticos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Caching de matrices de covarianza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Procesamiento vectorizado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Sin loops Python sobre filas/fechas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351 trials ejecutados (6 estrategias × múltiples configs)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66CC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23232"/>
                </a:solidFill>
              </a:defRPr>
            </a:pPr>
            <a:r>
              <a:t>Entorno RL Custom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¿Por qué NO usar Gymnasium?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Gymnasium está diseñado para simulaciones genéricas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Necesitamos un simulador financiero realista: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Costes de transacción realistas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Restricciones de portfolio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Datos históricos reales (no simulados)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Fricciones de mercado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Solo usamos gymnasium.spaces para compatibilidad con SB3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Diseño event-driven con costes y restricciones reales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Arquitectura del Entorno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45720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863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                    TradingEnvironment                 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                                                       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┌─────────────────┐    ┌─────────────────┐    ┌─────────────┐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│ MarketSimulator │    │   CostModel     │    │ Constraints │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│                 │    │                 │    │             │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│ - algo returns  │    │ - fixed cost    │    │ - max weight│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│ - event-driven  │    │ - spread (5bp)  │    │ - turnover  │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│ - realistic     │    │ - slippage (2bp)│    │ - exposure  │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│                 │    │ - market impact │    │             │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└────────┬────────┘    └────────┬────────┘    └──────┬──────┘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         │                      │                    │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         └──────────────────────┼────────────────────┘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                                │                     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                                ▼                     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                      ┌─────────────────┐             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                      │ RewardFunction  │             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                      │                 │             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                      │ - pure_returns  │             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                      │ - alpha vs bench│             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                      │ - risk penalties│             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│                        └─────────────────┘                     │</a:t>
            </a:r>
          </a:p>
          <a:p>
            <a:pPr>
              <a:defRPr sz="1600">
                <a:solidFill>
                  <a:srgbClr val="323232"/>
                </a:solidFill>
                <a:latin typeface="Consolas"/>
              </a:defRPr>
            </a:pPr>
            <a:r>
              <a:t>    └─────────────────────────────────────────────────────────────────┘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Modelo de Costes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Fixed cost per trade: 0 (simplificación)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Spread: 5 basis points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Slippage: 2 basis points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Market impact: 0.1 × sqrt(trade_size)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Conservador para evitar sobreestimar performance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Función de Reward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Múltiples tipos implementados: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PURE_RETURNS: Solo maximiza retornos (sin penalizaciones)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Útil para diagnóstico y experimentación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ALPHA_PENALIZED: Exceso vs benchmark - penalizaciones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Penaliza costes, turnover, drawdown, tracking error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RISK_ADJUSTED: Sharpe diferencial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Penalizaciones: costes, turnover, drawdown, riesgo excesivo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66CC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23232"/>
                </a:solidFill>
              </a:defRPr>
            </a:pPr>
            <a:r>
              <a:t>Agentes de Reinforcement Learning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Algoritmos Implementados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PPO (Baseline Principal)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Proximal Policy Optimization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On-policy, estable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Clip range: 0.2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Red MLP [256, 256]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Bueno para acciones continuas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SAC / TD3 (Alternativas)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Off-policy, sample efficient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SAC: máxima entropía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TD3: twin critics, delayed update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Mejor para exploration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</a:defRPr>
            </a:pPr>
            <a:r>
              <a:t>• Útil si reward ruidoso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Hiperparámetros 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learning_rate: 3e-4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n_steps: 2048 (steps antes de update)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batch_size: 64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n_epochs: 10 (epochs por update)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gamma: 0.99 (discount factor)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gae_lambda: 0.95 (GAE)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ent_coef: 0.01 (exploration)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Espacio de Observación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Retornos de algoritmos (rolling features)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Volatilidades y correlaciones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Drawdowns actuales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Pesos actuales del portfolio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Features de régimen (si disponibles)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Normalización con running statistics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Espacio de 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Continuo: Box(0, 1, shape=(n_algorithms,))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Representa pesos target del portfolio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Se normaliza para sumar 1.0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Constraints se aplican post-acción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66CC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23232"/>
                </a:solidFill>
              </a:defRPr>
            </a:pPr>
            <a:r>
              <a:t>Resultados y Evaluación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Metodología Walk-Forward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Train window: 252 días (1 año)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Validation window: 63 días (1 trimestre)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Test window: 63 días (1 trimestre)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Step size: 63 días (rolling)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NUNCA train/test aleatorio - siempre temporal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Evita data leakage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Simula condiciones reales de trading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Métricas de Evaluación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Métricas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Performance Absoluta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Return, Volatility, Sharpe, Sortino, Calmar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Performance Relativa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Excess Return, Tracking Error, Information Ratio, Alpha, Beta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Operativa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Turnover, Holding Period, Concentration (HHI)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Riesgo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Max Drawdown, VaR 95%, CVaR 95%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Criterio de Éxito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Batir al benchmark en métricas ajustadas por riesgo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Superar a los baselines clásicos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A igualdad de restricciones y fricciones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Consistencia en walk-forward (no solo in-sample)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Sanity Checks Implementados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EW constante = Baseline Equal Weight (verificar equivalencia)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Costes = 0 → debería rotar más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Turnover penalty alta → debería tender a buy-and-hold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Replicar benchmark → reward ≈ 0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Si falla alguno, hay bug en el código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66CC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23232"/>
                </a:solidFill>
              </a:defRPr>
            </a:pPr>
            <a:r>
              <a:t>Conclusiones y Trabajo Futuro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Logros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Pipeline completo de análisis de datos financieros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Reverse engineering del benchmark (características operativas)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6 baselines clásicos implementados y evaluados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Entorno RL custom con costes y restricciones realistas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3 agentes RL (PPO, SAC, TD3) con configuración optimizada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Framework de evaluación walk-forward riguroso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Lecciones Aprendidas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RL para allocation es DIFÍCIL - señal débil, mucho ruido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Los baselines clásicos son difíciles de superar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La función de reward es CRÍTICA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Simplificar primero (pure returns), luego añadir complejidad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Walk-forward es esencial - in-sample engaña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Trabajo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Enfoque híbrido: MPT base + RL tilts</a:t>
            </a:r>
          </a:p>
          <a:p>
            <a:pPr>
              <a:spcAft>
                <a:spcPts val="600"/>
              </a:spcAft>
              <a:defRPr sz="1800">
                <a:solidFill>
                  <a:srgbClr val="646464"/>
                </a:solidFill>
              </a:defRPr>
            </a:pPr>
            <a:r>
              <a:t>    ‣ target = risk_parity + bounded_rl_adjustment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Offline RL con datos históricos (CQL/IQL)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Más features de régimen (macro indicators)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Ensemble de agentes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Transfer learning entre regímenes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Stack Tecnológico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Python 3.13 + NumPy + Pandas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Numba para JIT compilation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Stable-Baselines3 para RL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PyTorch como backend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Scikit-learn para clustering/PCA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• HMMlearn para inferencia de regímenes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¿Preguntas?</a:t>
            </a:r>
          </a:p>
          <a:p>
            <a:pPr algn="ctr">
              <a:defRPr sz="2400">
                <a:solidFill>
                  <a:srgbClr val="C8C8C8"/>
                </a:solidFill>
              </a:defRPr>
            </a:pPr>
            <a:r>
              <a:t>Gracias por su atención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